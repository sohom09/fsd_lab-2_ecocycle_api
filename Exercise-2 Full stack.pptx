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302" r:id="rId3"/>
    <p:sldId id="292" r:id="rId4"/>
    <p:sldId id="257" r:id="rId5"/>
    <p:sldId id="278" r:id="rId6"/>
    <p:sldId id="279" r:id="rId7"/>
    <p:sldId id="280" r:id="rId8"/>
    <p:sldId id="298" r:id="rId9"/>
    <p:sldId id="296" r:id="rId10"/>
    <p:sldId id="299" r:id="rId11"/>
    <p:sldId id="297" r:id="rId12"/>
    <p:sldId id="300" r:id="rId13"/>
    <p:sldId id="281" r:id="rId14"/>
    <p:sldId id="293" r:id="rId15"/>
    <p:sldId id="294" r:id="rId16"/>
    <p:sldId id="295" r:id="rId17"/>
    <p:sldId id="301" r:id="rId18"/>
    <p:sldId id="282" r:id="rId19"/>
  </p:sldIdLst>
  <p:sldSz cx="12192000" cy="6858000"/>
  <p:notesSz cx="6858000" cy="9144000"/>
  <p:embeddedFontLst>
    <p:embeddedFont>
      <p:font typeface="Yellowtail" charset="0"/>
      <p:regular r:id="rId21"/>
    </p:embeddedFont>
    <p:embeddedFont>
      <p:font typeface="IBM Plex Sans Condensed" charset="0"/>
      <p:regular r:id="rId22"/>
      <p:bold r:id="rId23"/>
      <p:italic r:id="rId24"/>
      <p:boldItalic r:id="rId25"/>
    </p:embeddedFont>
    <p:embeddedFont>
      <p:font typeface="Archivo Narrow Medium" charset="0"/>
      <p:regular r:id="rId26"/>
      <p:bold r:id="rId27"/>
      <p:italic r:id="rId28"/>
      <p:bold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Georgia" pitchFamily="18" charset="0"/>
      <p:regular r:id="rId34"/>
      <p:bold r:id="rId35"/>
      <p:italic r:id="rId36"/>
      <p:boldItalic r:id="rId37"/>
    </p:embeddedFont>
    <p:embeddedFont>
      <p:font typeface="Archivo Narrow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76" y="-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96204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883a03b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883a03be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2e4883a03be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16600" cy="7371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09100" cy="12825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name="adj" fmla="val 57856"/>
            </a:avLst>
          </a:prstGeom>
          <a:solidFill>
            <a:srgbClr val="D2AE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name="adj" fmla="val 339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27" name="Google Shape;2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8017" y="408211"/>
            <a:ext cx="2828175" cy="8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sz="1500" b="1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sz="1200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sz="1200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sz="1500" b="1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sz="1200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sz="1500" b="1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sz="1200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lang="en-GB" sz="1200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sz="1200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rtl="0"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rtl="0"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ctr" rtl="0"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marL="914400" lvl="1" indent="-314325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marL="1371600" lvl="2" indent="-314325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marL="1828800" lvl="3" indent="-314325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14325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 sz="3200" b="1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 sz="2800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 sz="2600"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■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●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○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■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●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810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chivo Narrow"/>
              <a:buChar char="○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81000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Archivo Narrow"/>
              <a:buChar char="■"/>
              <a:defRPr sz="24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194" y="6371291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sz="1600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925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200">
                <a:solidFill>
                  <a:srgbClr val="FFFFFF"/>
                </a:solidFill>
              </a:defRPr>
            </a:lvl1pPr>
            <a:lvl2pPr lvl="1" algn="r" rtl="0">
              <a:buNone/>
              <a:defRPr sz="1200">
                <a:solidFill>
                  <a:srgbClr val="FFFFFF"/>
                </a:solidFill>
              </a:defRPr>
            </a:lvl2pPr>
            <a:lvl3pPr lvl="2" algn="r" rtl="0">
              <a:buNone/>
              <a:defRPr sz="1200">
                <a:solidFill>
                  <a:srgbClr val="FFFFFF"/>
                </a:solidFill>
              </a:defRPr>
            </a:lvl3pPr>
            <a:lvl4pPr lvl="3" algn="r" rtl="0">
              <a:buNone/>
              <a:defRPr sz="1200">
                <a:solidFill>
                  <a:srgbClr val="FFFFFF"/>
                </a:solidFill>
              </a:defRPr>
            </a:lvl4pPr>
            <a:lvl5pPr lvl="4" algn="r" rtl="0">
              <a:buNone/>
              <a:defRPr sz="1200">
                <a:solidFill>
                  <a:srgbClr val="FFFFFF"/>
                </a:solidFill>
              </a:defRPr>
            </a:lvl5pPr>
            <a:lvl6pPr lvl="5" algn="r" rtl="0">
              <a:buNone/>
              <a:defRPr sz="1200">
                <a:solidFill>
                  <a:srgbClr val="FFFFFF"/>
                </a:solidFill>
              </a:defRPr>
            </a:lvl6pPr>
            <a:lvl7pPr lvl="6" algn="r" rtl="0">
              <a:buNone/>
              <a:defRPr sz="1200">
                <a:solidFill>
                  <a:srgbClr val="FFFFFF"/>
                </a:solidFill>
              </a:defRPr>
            </a:lvl7pPr>
            <a:lvl8pPr lvl="7" algn="r" rtl="0">
              <a:buNone/>
              <a:defRPr sz="1200">
                <a:solidFill>
                  <a:srgbClr val="FFFFFF"/>
                </a:solidFill>
              </a:defRPr>
            </a:lvl8pPr>
            <a:lvl9pPr lvl="8" algn="r" rtl="0">
              <a:buNone/>
              <a:defRPr sz="12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/>
          <p:cNvPicPr preferRelativeResize="0"/>
          <p:nvPr/>
        </p:nvPicPr>
        <p:blipFill>
          <a:blip r:embed="rId12">
            <a:alphaModFix amt="2000"/>
          </a:blip>
          <a:stretch>
            <a:fillRect/>
          </a:stretch>
        </p:blipFill>
        <p:spPr>
          <a:xfrm>
            <a:off x="8405600" y="2427475"/>
            <a:ext cx="3338350" cy="3327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617550" y="2313225"/>
            <a:ext cx="51708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381000" y="1447800"/>
            <a:ext cx="11360700" cy="150397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mtClean="0"/>
              <a:t>Exercise-2: </a:t>
            </a:r>
            <a:r>
              <a:rPr lang="en-US" dirty="0"/>
              <a:t>Include and Demonstrate HTML5 APIs</a:t>
            </a:r>
            <a:endParaRPr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415600" y="2743201"/>
            <a:ext cx="11360700" cy="189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/>
            <a:r>
              <a:rPr lang="en-US" sz="2800" b="1" dirty="0" smtClean="0"/>
              <a:t>Objectives</a:t>
            </a:r>
            <a:r>
              <a:rPr lang="en-US" sz="2800" b="1" dirty="0" smtClean="0"/>
              <a:t>: </a:t>
            </a:r>
          </a:p>
          <a:p>
            <a:pPr marL="508000" indent="-457200" algn="just">
              <a:buFont typeface="Arial" pitchFamily="34" charset="0"/>
              <a:buChar char="•"/>
            </a:pPr>
            <a:r>
              <a:rPr lang="en-US" sz="2800" dirty="0" smtClean="0"/>
              <a:t>To </a:t>
            </a:r>
            <a:r>
              <a:rPr lang="en-US" sz="2800" dirty="0"/>
              <a:t>develop a responsive web application using HTML5 semantic elements, Tailwind CSS, JavaScript, and relevant HTML5 APIs based on the selected domain requirements.</a:t>
            </a:r>
          </a:p>
          <a:p>
            <a:pPr marL="508000" indent="-457200" algn="just">
              <a:buFont typeface="Arial" pitchFamily="34" charset="0"/>
              <a:buChar char="•"/>
            </a:pPr>
            <a:r>
              <a:rPr lang="en-US" sz="2800" dirty="0"/>
              <a:t>Students are required to identify suitable HTML5 APIs that add value to their chosen domain and integrate a minimum of FIVE HTML5 APIs into their application.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HTML5 APIs include: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600" y="1143000"/>
            <a:ext cx="11360700" cy="4948588"/>
          </a:xfrm>
        </p:spPr>
        <p:txBody>
          <a:bodyPr/>
          <a:lstStyle/>
          <a:p>
            <a:pPr lvl="1" algn="just"/>
            <a:r>
              <a:rPr lang="en-US" dirty="0" err="1"/>
              <a:t>Geolocation</a:t>
            </a:r>
            <a:r>
              <a:rPr lang="en-US" dirty="0"/>
              <a:t> </a:t>
            </a:r>
            <a:r>
              <a:rPr lang="en-US" dirty="0" smtClean="0"/>
              <a:t>API</a:t>
            </a:r>
          </a:p>
          <a:p>
            <a:pPr lvl="1" algn="just"/>
            <a:r>
              <a:rPr lang="en-US" dirty="0" smtClean="0"/>
              <a:t>Local </a:t>
            </a:r>
            <a:r>
              <a:rPr lang="en-US" dirty="0"/>
              <a:t>Storage </a:t>
            </a:r>
            <a:r>
              <a:rPr lang="en-US" dirty="0" smtClean="0"/>
              <a:t>API</a:t>
            </a:r>
          </a:p>
          <a:p>
            <a:pPr lvl="1" algn="just"/>
            <a:r>
              <a:rPr lang="en-US" dirty="0" smtClean="0"/>
              <a:t>Session </a:t>
            </a:r>
            <a:r>
              <a:rPr lang="en-US" dirty="0"/>
              <a:t>Storage </a:t>
            </a:r>
            <a:r>
              <a:rPr lang="en-US" dirty="0" smtClean="0"/>
              <a:t>API</a:t>
            </a:r>
          </a:p>
          <a:p>
            <a:pPr lvl="1" algn="just"/>
            <a:r>
              <a:rPr lang="en-US" dirty="0" smtClean="0"/>
              <a:t>Audio API</a:t>
            </a:r>
          </a:p>
          <a:p>
            <a:pPr lvl="1" algn="just"/>
            <a:r>
              <a:rPr lang="en-US" dirty="0" smtClean="0"/>
              <a:t>Video API</a:t>
            </a:r>
          </a:p>
          <a:p>
            <a:pPr lvl="1" algn="just"/>
            <a:r>
              <a:rPr lang="en-US" dirty="0" smtClean="0"/>
              <a:t>Canvas API</a:t>
            </a:r>
          </a:p>
          <a:p>
            <a:pPr lvl="1" algn="just"/>
            <a:r>
              <a:rPr lang="en-US" dirty="0" smtClean="0"/>
              <a:t>Drag </a:t>
            </a:r>
            <a:r>
              <a:rPr lang="en-US" dirty="0"/>
              <a:t>and Drop </a:t>
            </a:r>
            <a:r>
              <a:rPr lang="en-US" dirty="0" smtClean="0"/>
              <a:t>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800600" y="1295400"/>
            <a:ext cx="6477000" cy="494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●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○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●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○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pPr lvl="1" algn="just"/>
            <a:r>
              <a:rPr lang="en-US" dirty="0" smtClean="0"/>
              <a:t>Web Workers API</a:t>
            </a:r>
          </a:p>
          <a:p>
            <a:pPr lvl="1" algn="just"/>
            <a:r>
              <a:rPr lang="en-US" dirty="0" smtClean="0"/>
              <a:t>History API</a:t>
            </a:r>
          </a:p>
          <a:p>
            <a:pPr lvl="1" algn="just"/>
            <a:r>
              <a:rPr lang="en-US" dirty="0" err="1" smtClean="0"/>
              <a:t>Fullscreen</a:t>
            </a:r>
            <a:r>
              <a:rPr lang="en-US" dirty="0" smtClean="0"/>
              <a:t> API</a:t>
            </a:r>
          </a:p>
          <a:p>
            <a:pPr lvl="1" algn="just"/>
            <a:r>
              <a:rPr lang="en-US" dirty="0" smtClean="0"/>
              <a:t>Clipboard API</a:t>
            </a:r>
          </a:p>
          <a:p>
            <a:pPr lvl="1" algn="just"/>
            <a:r>
              <a:rPr lang="en-US" dirty="0" smtClean="0"/>
              <a:t>Web Notifications API</a:t>
            </a:r>
          </a:p>
          <a:p>
            <a:pPr lvl="1" algn="just"/>
            <a:r>
              <a:rPr lang="en-US" dirty="0" smtClean="0"/>
              <a:t>Device Orientation API</a:t>
            </a:r>
          </a:p>
          <a:p>
            <a:pPr lvl="1" algn="just"/>
            <a:r>
              <a:rPr lang="en-US" dirty="0" smtClean="0"/>
              <a:t>File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16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 and Software </a:t>
            </a:r>
            <a:r>
              <a:rPr lang="en-US" dirty="0" smtClean="0"/>
              <a:t>Required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1" dirty="0"/>
              <a:t>Problem </a:t>
            </a:r>
            <a:r>
              <a:rPr lang="en-US" b="1" dirty="0" smtClean="0"/>
              <a:t>Statement: </a:t>
            </a:r>
            <a:r>
              <a:rPr lang="en-US" dirty="0"/>
              <a:t>Enhance the </a:t>
            </a:r>
            <a:r>
              <a:rPr lang="en-US" dirty="0" smtClean="0"/>
              <a:t>existing landing </a:t>
            </a:r>
            <a:r>
              <a:rPr lang="en-US" dirty="0"/>
              <a:t>page by integrating HTML5 APIs and </a:t>
            </a:r>
            <a:r>
              <a:rPr lang="en-US" dirty="0" smtClean="0"/>
              <a:t>functionalities </a:t>
            </a:r>
            <a:r>
              <a:rPr lang="en-US" dirty="0"/>
              <a:t>to create a more interactive user experience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r>
              <a:rPr lang="en-US" b="1" dirty="0"/>
              <a:t>Software Required</a:t>
            </a:r>
          </a:p>
          <a:p>
            <a:pPr lvl="1"/>
            <a:r>
              <a:rPr lang="en-US" dirty="0"/>
              <a:t>VS Code</a:t>
            </a:r>
          </a:p>
          <a:p>
            <a:pPr lvl="1"/>
            <a:r>
              <a:rPr lang="en-US" dirty="0"/>
              <a:t>Chrome Browser</a:t>
            </a:r>
          </a:p>
          <a:p>
            <a:pPr lvl="1"/>
            <a:r>
              <a:rPr lang="en-US" dirty="0" err="1"/>
              <a:t>Git</a:t>
            </a:r>
            <a:endParaRPr lang="en-US" dirty="0"/>
          </a:p>
          <a:p>
            <a:pPr lvl="1"/>
            <a:r>
              <a:rPr lang="en-US" dirty="0"/>
              <a:t>GitHub </a:t>
            </a:r>
            <a:r>
              <a:rPr lang="en-US" dirty="0" smtClean="0"/>
              <a:t>Account</a:t>
            </a:r>
          </a:p>
          <a:p>
            <a:endParaRPr lang="en-US" dirty="0"/>
          </a:p>
          <a:p>
            <a:pPr marL="50800" indent="0">
              <a:buNone/>
            </a:pPr>
            <a:endParaRPr lang="en-US" dirty="0"/>
          </a:p>
          <a:p>
            <a:pPr marL="5080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53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55575" y="228600"/>
            <a:ext cx="1203642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1. </a:t>
            </a:r>
            <a:r>
              <a:rPr lang="en-US" dirty="0"/>
              <a:t>Open VS Code and create a </a:t>
            </a:r>
            <a:r>
              <a:rPr lang="en-US" dirty="0" smtClean="0"/>
              <a:t>project or use existing repository: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6800"/>
            <a:ext cx="9753600" cy="519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11360700" cy="68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smtClean="0"/>
              <a:t>2. Create: index1.html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7" t="9452" r="11694" b="29784"/>
          <a:stretch/>
        </p:blipFill>
        <p:spPr bwMode="auto">
          <a:xfrm>
            <a:off x="307975" y="1066798"/>
            <a:ext cx="10074274" cy="521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041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8100" y="3810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smtClean="0"/>
              <a:t>3. </a:t>
            </a:r>
            <a:r>
              <a:rPr lang="en-US" dirty="0"/>
              <a:t>Design a responsive </a:t>
            </a:r>
            <a:r>
              <a:rPr lang="en-US" dirty="0" smtClean="0"/>
              <a:t>webpage.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By using HTML5 and </a:t>
            </a:r>
            <a:r>
              <a:rPr lang="en-US" dirty="0"/>
              <a:t>Tailwind </a:t>
            </a:r>
            <a:r>
              <a:rPr lang="en-US" dirty="0" smtClean="0"/>
              <a:t>CSS:</a:t>
            </a:r>
          </a:p>
          <a:p>
            <a:pPr lvl="1"/>
            <a:r>
              <a:rPr lang="en-US" dirty="0" smtClean="0"/>
              <a:t>Header</a:t>
            </a:r>
          </a:p>
          <a:p>
            <a:pPr lvl="1"/>
            <a:r>
              <a:rPr lang="en-US" dirty="0" smtClean="0"/>
              <a:t>Navigation Bar</a:t>
            </a:r>
          </a:p>
          <a:p>
            <a:pPr lvl="1"/>
            <a:r>
              <a:rPr lang="en-US" dirty="0" smtClean="0"/>
              <a:t>Hero Section</a:t>
            </a:r>
          </a:p>
          <a:p>
            <a:pPr lvl="1"/>
            <a:r>
              <a:rPr lang="en-US" dirty="0" smtClean="0"/>
              <a:t>Features Section</a:t>
            </a:r>
          </a:p>
          <a:p>
            <a:pPr lvl="1"/>
            <a:r>
              <a:rPr lang="en-US" dirty="0" smtClean="0"/>
              <a:t>Footer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8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4. </a:t>
            </a:r>
            <a:r>
              <a:rPr lang="en-US" dirty="0"/>
              <a:t>Implement the </a:t>
            </a:r>
            <a:r>
              <a:rPr lang="en-US" dirty="0" err="1"/>
              <a:t>Geolocation</a:t>
            </a:r>
            <a:r>
              <a:rPr lang="en-US" dirty="0"/>
              <a:t> </a:t>
            </a:r>
            <a:r>
              <a:rPr lang="en-US" dirty="0" smtClean="0"/>
              <a:t>API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066800"/>
            <a:ext cx="11620725" cy="5024788"/>
          </a:xfrm>
        </p:spPr>
        <p:txBody>
          <a:bodyPr/>
          <a:lstStyle/>
          <a:p>
            <a:r>
              <a:rPr lang="en-US" dirty="0"/>
              <a:t>Add a button to retrieve the user's location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Display </a:t>
            </a:r>
            <a:r>
              <a:rPr lang="en-US" dirty="0"/>
              <a:t>Latitude and Longitude.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19781" r="28404" b="21154"/>
          <a:stretch/>
        </p:blipFill>
        <p:spPr bwMode="auto">
          <a:xfrm>
            <a:off x="5791200" y="1752600"/>
            <a:ext cx="567672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202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Geolocation</a:t>
            </a:r>
            <a:r>
              <a:rPr lang="en-US" dirty="0"/>
              <a:t>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23950"/>
            <a:ext cx="7220473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447800"/>
            <a:ext cx="31813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67400" y="3429000"/>
            <a:ext cx="2895600" cy="12192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5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/>
              <a:t>Implement the Local Storage API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419388"/>
            <a:ext cx="11620725" cy="4672200"/>
          </a:xfrm>
        </p:spPr>
        <p:txBody>
          <a:bodyPr/>
          <a:lstStyle/>
          <a:p>
            <a:r>
              <a:rPr lang="en-US" dirty="0"/>
              <a:t>Accept user input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Save </a:t>
            </a:r>
            <a:r>
              <a:rPr lang="en-US" dirty="0"/>
              <a:t>data using Local Storage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Retrieve </a:t>
            </a:r>
            <a:r>
              <a:rPr lang="en-US" dirty="0"/>
              <a:t>and display stored data.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15" t="21154" r="23572" b="13187"/>
          <a:stretch/>
        </p:blipFill>
        <p:spPr bwMode="auto">
          <a:xfrm>
            <a:off x="5791200" y="1066800"/>
            <a:ext cx="6266254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038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Storage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39"/>
          <a:stretch/>
        </p:blipFill>
        <p:spPr bwMode="auto">
          <a:xfrm>
            <a:off x="0" y="1676400"/>
            <a:ext cx="700872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10"/>
          <a:stretch/>
        </p:blipFill>
        <p:spPr bwMode="auto">
          <a:xfrm>
            <a:off x="5715000" y="2438400"/>
            <a:ext cx="6096000" cy="2757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7851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6</a:t>
            </a:r>
            <a:r>
              <a:rPr lang="en-US" dirty="0" smtClean="0"/>
              <a:t>. </a:t>
            </a:r>
            <a:r>
              <a:rPr lang="en-US" dirty="0"/>
              <a:t>Embed multimedia </a:t>
            </a:r>
            <a:r>
              <a:rPr lang="en-US" dirty="0" smtClean="0"/>
              <a:t>content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419388"/>
            <a:ext cx="11620725" cy="4672200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Add using</a:t>
            </a:r>
          </a:p>
          <a:p>
            <a:r>
              <a:rPr lang="en-US" dirty="0" smtClean="0"/>
              <a:t>HTML5 </a:t>
            </a:r>
            <a:r>
              <a:rPr lang="en-US" dirty="0"/>
              <a:t>Audio </a:t>
            </a:r>
            <a:r>
              <a:rPr lang="en-US" dirty="0" smtClean="0"/>
              <a:t>Element</a:t>
            </a:r>
          </a:p>
          <a:p>
            <a:r>
              <a:rPr lang="en-US" dirty="0" smtClean="0"/>
              <a:t>HTML5 </a:t>
            </a:r>
            <a:r>
              <a:rPr lang="en-US" dirty="0"/>
              <a:t>Video Element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71" t="34615" r="26208" b="13462"/>
          <a:stretch/>
        </p:blipFill>
        <p:spPr bwMode="auto">
          <a:xfrm>
            <a:off x="4267200" y="1200150"/>
            <a:ext cx="7477125" cy="492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051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 multimedia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48"/>
          <a:stretch/>
        </p:blipFill>
        <p:spPr bwMode="auto">
          <a:xfrm>
            <a:off x="457200" y="1447800"/>
            <a:ext cx="6913894" cy="4757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58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55575" y="455699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5. Save the file.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1457488"/>
            <a:ext cx="11360700" cy="4672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2" t="10165" r="12373" b="13736"/>
          <a:stretch/>
        </p:blipFill>
        <p:spPr bwMode="auto">
          <a:xfrm>
            <a:off x="307975" y="1066800"/>
            <a:ext cx="8096251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33488"/>
            <a:ext cx="6372225" cy="450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6933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55575" y="455699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6</a:t>
            </a:r>
            <a:r>
              <a:rPr lang="en-US" dirty="0" smtClean="0"/>
              <a:t>. Run and Verify </a:t>
            </a:r>
            <a:r>
              <a:rPr lang="en-US" dirty="0"/>
              <a:t>webpage output.</a:t>
            </a: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9372600" cy="499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13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Push </a:t>
            </a:r>
            <a:r>
              <a:rPr lang="en-US" dirty="0" smtClean="0"/>
              <a:t>index1.html </a:t>
            </a:r>
            <a:r>
              <a:rPr lang="en-US" dirty="0" smtClean="0"/>
              <a:t>to GitHub Repository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81100"/>
            <a:ext cx="9220200" cy="491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53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Suggestions for Creativity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Students may additionally integrate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Canvas </a:t>
            </a:r>
            <a:r>
              <a:rPr lang="en-US" dirty="0" smtClean="0"/>
              <a:t>API</a:t>
            </a:r>
          </a:p>
          <a:p>
            <a:pPr lvl="1"/>
            <a:r>
              <a:rPr lang="en-US" dirty="0" smtClean="0"/>
              <a:t>Drag </a:t>
            </a:r>
            <a:r>
              <a:rPr lang="en-US" dirty="0"/>
              <a:t>and Drop </a:t>
            </a:r>
            <a:r>
              <a:rPr lang="en-US" dirty="0" smtClean="0"/>
              <a:t>API</a:t>
            </a:r>
          </a:p>
          <a:p>
            <a:pPr lvl="1"/>
            <a:r>
              <a:rPr lang="en-US" dirty="0" smtClean="0"/>
              <a:t>Dark </a:t>
            </a:r>
            <a:r>
              <a:rPr lang="en-US" dirty="0"/>
              <a:t>Mode </a:t>
            </a:r>
            <a:r>
              <a:rPr lang="en-US" dirty="0" smtClean="0"/>
              <a:t>Toggle</a:t>
            </a:r>
          </a:p>
          <a:p>
            <a:pPr lvl="1"/>
            <a:r>
              <a:rPr lang="en-US" dirty="0" smtClean="0"/>
              <a:t>Theme Customization</a:t>
            </a:r>
          </a:p>
          <a:p>
            <a:pPr lvl="1"/>
            <a:r>
              <a:rPr lang="en-US" dirty="0" smtClean="0"/>
              <a:t>AI-assisted </a:t>
            </a:r>
            <a:r>
              <a:rPr lang="en-US" dirty="0"/>
              <a:t>Enhancements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213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Upload a single PDF </a:t>
            </a:r>
            <a:r>
              <a:rPr lang="en-US" dirty="0" smtClean="0"/>
              <a:t>containing:</a:t>
            </a:r>
            <a:endParaRPr lang="en-US" dirty="0"/>
          </a:p>
          <a:p>
            <a:pPr marL="508000" lvl="1" indent="0">
              <a:buNone/>
            </a:pPr>
            <a:r>
              <a:rPr lang="en-US" dirty="0" smtClean="0"/>
              <a:t>1</a:t>
            </a:r>
            <a:r>
              <a:rPr lang="en-US" dirty="0"/>
              <a:t>. Source Code (</a:t>
            </a:r>
            <a:r>
              <a:rPr lang="en-US" dirty="0" smtClean="0"/>
              <a:t>index1.html</a:t>
            </a:r>
            <a:r>
              <a:rPr lang="en-US" dirty="0" smtClean="0"/>
              <a:t>)</a:t>
            </a:r>
          </a:p>
          <a:p>
            <a:pPr marL="508000" lvl="1" indent="0">
              <a:buNone/>
            </a:pPr>
            <a:r>
              <a:rPr lang="en-US" dirty="0" smtClean="0"/>
              <a:t>2. Screenshots </a:t>
            </a:r>
            <a:r>
              <a:rPr lang="en-US" dirty="0" smtClean="0"/>
              <a:t>(API Integrations)</a:t>
            </a:r>
            <a:endParaRPr lang="en-US" dirty="0" smtClean="0"/>
          </a:p>
          <a:p>
            <a:pPr marL="508000" lvl="1" indent="0">
              <a:buNone/>
            </a:pPr>
            <a:r>
              <a:rPr lang="en-US" dirty="0" smtClean="0"/>
              <a:t>3. GitHub </a:t>
            </a:r>
            <a:r>
              <a:rPr lang="en-US" dirty="0"/>
              <a:t>Repository Link (GitHub Repository </a:t>
            </a:r>
            <a:r>
              <a:rPr lang="en-US" dirty="0" smtClean="0"/>
              <a:t>URL)</a:t>
            </a:r>
          </a:p>
          <a:p>
            <a:pPr marL="508000" lvl="1" indent="0">
              <a:buNone/>
            </a:pPr>
            <a:r>
              <a:rPr lang="en-US" dirty="0" smtClean="0"/>
              <a:t>4</a:t>
            </a:r>
            <a:r>
              <a:rPr lang="en-US" dirty="0"/>
              <a:t>. AI Usage </a:t>
            </a:r>
            <a:r>
              <a:rPr lang="en-US" dirty="0" smtClean="0"/>
              <a:t>Declaration (AI </a:t>
            </a:r>
            <a:r>
              <a:rPr lang="en-US" dirty="0" smtClean="0"/>
              <a:t>Tools and Purpose)</a:t>
            </a:r>
            <a:endParaRPr lang="en-US" dirty="0" smtClean="0"/>
          </a:p>
          <a:p>
            <a:pPr marL="508000" lvl="1" indent="0">
              <a:buNone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dirty="0" smtClean="0"/>
              <a:t>Reflections  </a:t>
            </a:r>
            <a:r>
              <a:rPr lang="en-US" dirty="0" smtClean="0"/>
              <a:t>[Optional]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75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460375" y="3810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smtClean="0"/>
              <a:t>Marking Rubrics</a:t>
            </a:r>
            <a:endParaRPr dirty="0"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307975" y="911400"/>
            <a:ext cx="9521825" cy="282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Execution/ </a:t>
            </a:r>
            <a:r>
              <a:rPr lang="en-US" sz="2400" dirty="0" smtClean="0"/>
              <a:t>Implementation  – 2M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Formatting </a:t>
            </a:r>
            <a:r>
              <a:rPr lang="en-US" sz="2400" dirty="0"/>
              <a:t>&amp; </a:t>
            </a:r>
            <a:r>
              <a:rPr lang="en-US" sz="2400" dirty="0" smtClean="0"/>
              <a:t>Validation – 2M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Concept </a:t>
            </a:r>
            <a:r>
              <a:rPr lang="en-US" sz="2400" dirty="0" smtClean="0"/>
              <a:t>Clarity/ Viva– 2M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Complexity/ Self </a:t>
            </a:r>
            <a:r>
              <a:rPr lang="en-US" sz="2400" dirty="0" smtClean="0"/>
              <a:t>Learning/ </a:t>
            </a:r>
            <a:r>
              <a:rPr lang="en-US" sz="2400" dirty="0"/>
              <a:t>On-Spot Task Completion </a:t>
            </a:r>
            <a:r>
              <a:rPr lang="en-US" sz="2400" dirty="0" smtClean="0"/>
              <a:t>– 2M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GitHub Collaboration/ Deployment – 2M</a:t>
            </a:r>
            <a:endParaRPr lang="en-US" sz="2400"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sp>
        <p:nvSpPr>
          <p:cNvPr id="2" name="AutoShape 2" descr="Net Framework Programming - Apps 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89;p15"/>
          <p:cNvSpPr txBox="1">
            <a:spLocks/>
          </p:cNvSpPr>
          <p:nvPr/>
        </p:nvSpPr>
        <p:spPr>
          <a:xfrm>
            <a:off x="155575" y="4341150"/>
            <a:ext cx="11769725" cy="175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●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○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●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 Condensed"/>
              <a:buChar char="○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IBM Plex Sans Condensed"/>
              <a:buChar char="■"/>
              <a:defRPr sz="24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/>
              <a:t>Test the application thoroughly for any bugs or issues.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Save and build the </a:t>
            </a:r>
            <a:r>
              <a:rPr lang="en-US" sz="2400" dirty="0" smtClean="0"/>
              <a:t>GitHub project </a:t>
            </a:r>
            <a:r>
              <a:rPr lang="en-US" sz="2400" dirty="0"/>
              <a:t>for submission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Additional Suggestions for </a:t>
            </a:r>
            <a:r>
              <a:rPr lang="en-US" sz="2400" dirty="0" smtClean="0"/>
              <a:t>Creativity: API Integration based on your domain</a:t>
            </a:r>
            <a:endParaRPr lang="en-US" sz="2400" dirty="0"/>
          </a:p>
        </p:txBody>
      </p:sp>
      <p:sp>
        <p:nvSpPr>
          <p:cNvPr id="8" name="Google Shape;88;p15"/>
          <p:cNvSpPr txBox="1">
            <a:spLocks/>
          </p:cNvSpPr>
          <p:nvPr/>
        </p:nvSpPr>
        <p:spPr>
          <a:xfrm>
            <a:off x="602700" y="3808500"/>
            <a:ext cx="1120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r>
              <a:rPr lang="en-US" dirty="0" smtClean="0"/>
              <a:t>Final 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215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429</Words>
  <Application>Microsoft Office PowerPoint</Application>
  <PresentationFormat>Custom</PresentationFormat>
  <Paragraphs>104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Yellowtail</vt:lpstr>
      <vt:lpstr>IBM Plex Sans Condensed</vt:lpstr>
      <vt:lpstr>Archivo Narrow Medium</vt:lpstr>
      <vt:lpstr>Calibri</vt:lpstr>
      <vt:lpstr>Georgia</vt:lpstr>
      <vt:lpstr>Archivo Narrow</vt:lpstr>
      <vt:lpstr>Simple Light</vt:lpstr>
      <vt:lpstr>Exercise-2: Include and Demonstrate HTML5 APIs</vt:lpstr>
      <vt:lpstr>Examples of HTML5 APIs include:</vt:lpstr>
      <vt:lpstr>Problem Statement and Software Required</vt:lpstr>
      <vt:lpstr>1. Open VS Code and create a project or use existing repository:</vt:lpstr>
      <vt:lpstr>2. Create: index1.html</vt:lpstr>
      <vt:lpstr>3. Design a responsive webpage.</vt:lpstr>
      <vt:lpstr>4. Implement the Geolocation API</vt:lpstr>
      <vt:lpstr>Geolocation API</vt:lpstr>
      <vt:lpstr>5. Implement the Local Storage API</vt:lpstr>
      <vt:lpstr>Local Storage API</vt:lpstr>
      <vt:lpstr>6. Embed multimedia content</vt:lpstr>
      <vt:lpstr>Embed multimedia content</vt:lpstr>
      <vt:lpstr>5. Save the file.</vt:lpstr>
      <vt:lpstr>6. Run and Verify webpage output.</vt:lpstr>
      <vt:lpstr>7. Push index1.html to GitHub Repository </vt:lpstr>
      <vt:lpstr>Additional Suggestions for Creativity</vt:lpstr>
      <vt:lpstr>Submission Deliverables</vt:lpstr>
      <vt:lpstr>Marking Rubrics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Windows Forms</dc:title>
  <dc:creator>ADMIN</dc:creator>
  <cp:lastModifiedBy>ADMIN</cp:lastModifiedBy>
  <cp:revision>27</cp:revision>
  <dcterms:modified xsi:type="dcterms:W3CDTF">2026-06-08T09:33:09Z</dcterms:modified>
</cp:coreProperties>
</file>